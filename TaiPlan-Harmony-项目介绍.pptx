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开场：这是我把自己已有的 Windows 桌面项目迁移到鸿蒙后的原生版本。核心是把待办与日历结合，先记录，再安排，再执行。本次介绍的是 1.0.1 本机模拟器交付版，版本号与桌面版独立。作者 TaiWoo_Chen。开发过程中使用 AI 做代码实现、排查和验证，我负责产品决策与验收。</a:t>
            </a:r>
          </a:p>
          <a:p>
            <a:r>
              <a:t>来源：https://github.com/TanTaiwoo07/taiplan-harmony/blob/main/README.md；https://github.com/TanTaiwoo07/TaiPlan-desktop/blob/main/README.zh-CN.md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产品起点是两个不同问题：我需要做什么，以及我打算什么时候做。收集箱允许无日期输入，防止灵感被复杂表单打断。只设置日期代表今天要做；设置起止时间代表占用时间的日程。截止日期与安排日期分别存储，例如作业周五截止，但我可以周三安排完成。截图是 1.0.1 任务编辑页。</a:t>
            </a:r>
          </a:p>
          <a:p>
            <a:r>
              <a:t>来源：https://github.com/TanTaiwoo07/taiplan-harmony/blob/main/README.md；本地 milestones/icons-editor-light.png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入口分层是一次重要的产品修正。早期把工具和设置都堆到首页，导致用户看不到当前重点。现在今天只回答今天应当做什么；待办管理任务；日历管理时间；工作台容纳可选工具，设置放在齿轮入口。底部导航不因为工具增加而不断扩展。</a:t>
            </a:r>
          </a:p>
          <a:p>
            <a:r>
              <a:t>来源：https://github.com/TanTaiwoo07/taiplan-harmony/blob/main/README.md；entry/src/main/ets/pages/Index.ets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可从今天进入：先展示完成概览和红色紧急提示，再进入待办创建、编辑、完成、取消完成和删除撤销。待办与已完成分区默认按创建时间倒序，另有手动排序。颜色分别表达语义：紧急提示使用红色，标签和工作分类用各自标记，避免把所有卡片做成红色描边。</a:t>
            </a:r>
          </a:p>
          <a:p>
            <a:r>
              <a:t>来源：https://github.com/TanTaiwoo07/taiplan-harmony/blob/main/README.md；本地 milestones/icons-home-final.png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日历有年、月、周、日尺度。日周视图根据起止时间映射到纵向刻度，重叠任务分列展示。拖动改变时间，拖底部改变时长；松手后先预览再确认，支持撤销。没有精确时间的事项放在独立区域，不伪造零点日程。ICS 支持常见事件与重复规则子集，不能宣称覆盖整个 RFC 5545。截图仅展示周视图入口与时间刻度。</a:t>
            </a:r>
          </a:p>
          <a:p>
            <a:r>
              <a:t>来源：https://github.com/TanTaiwoo07/taiplan-harmony/blob/main/README.md；docs/FEATURE-AUDIT-100.md；本地 milestones/icons-calendar-dark.png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举例说“明天下午三点到四点，在图书馆复习英语”，解析得到标题、日期、开始结束时间和地点。离线解析不依赖 API，云端 AI 是可选增强。排程建议在未来七天查找空闲窗口，保留固定安排，用户可以逐项或全部采用。AI 输出不直接进入数据库，而是要经过结构和业务校验、预览确认，再用事务保存，必要时撤销。真实供应商连接与密钥持久化全矩阵并未完成验收。</a:t>
            </a:r>
          </a:p>
          <a:p>
            <a:r>
              <a:t>来源：https://github.com/TanTaiwoo07/taiplan-harmony/blob/main/README.md；docs/FEATURE-AUDIT-100.md；本地 milestones/icons-workbench.png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作台提供专注计时、习惯打卡、倒数日等辅助能力，用户可关闭不需要的模块。外观默认可以跟随系统，并提供浅色和深色、减少动画设置。专注恢复依靠开始时间和累计时长，不是把每秒递减的显示数直接当持久状态。截图为深色设置页与原生收集面板。</a:t>
            </a:r>
          </a:p>
          <a:p>
            <a:r>
              <a:t>来源：https://github.com/TanTaiwoo07/taiplan-harmony/blob/main/README.md；docs/DEMO-AND-DEFENSE.md；本地 milestones/icons-settings-dark.png、icons-capture-dark.png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1.0.1 接入用户提供的 74 个 SVG 原稿，区分普通、深色、选中和强调色背景下的图标。发现空心图标被 Image.fillColor 填实后移除相关覆盖，保留 SVG 自身画法。API 26 中，底部 Tabs 使用官方浮动页签及沉浸材质；合法的弹窗面板使用原生材质，不把所有内容卡片都伪装成玻璃。效果依据本机模拟器，不能用它替代真机验收。</a:t>
            </a:r>
          </a:p>
          <a:p>
            <a:r>
              <a:t>来源：https://github.com/TanTaiwoo07/taiplan-harmony/blob/main/docs/ICONS-101.md；本地 milestones/icons-home-dark.png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从一次保存解释分层：Index 和组件收集编辑结果；services 校验时间、重复规则和冲突；TaskRepository 在 SQLite 事务中保存；界面刷新后再让平台适配层同步提醒。服务失败不会让已保存任务消失。这样可以在脱离设备的条件下验证业务逻辑，也能用替身测试系统错误。</a:t>
            </a:r>
          </a:p>
          <a:p>
            <a:r>
              <a:t>来源：https://github.com/TanTaiwoo07/taiplan-harmony/blob/main/README.md；docs/DEMO-AND-DEFENSE.md；entry/src/main/ets/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每周三的课程只存一条重复模板。查询本周时动态展开发生项，不提前生成无限条记录。某个周三挪到周四后，身份仍然是系列 ID 加原发生日期，新的时间存入覆盖表；完成状态也按这个身份存。否则修改日期可能丢掉完成状态或重复生成同一天。修改系列时要保护已经发生和完成的历史。备份采用格式 7，恢复用事务避免半恢复。</a:t>
            </a:r>
          </a:p>
          <a:p>
            <a:r>
              <a:t>来源：https://github.com/TanTaiwoo07/taiplan-harmony/blob/main/README.md；docs/DEMO-AND-DEFENSE.md；https://github.com/TanTaiwoo07/TaiPlan-desktop/blob/main/taiplan/recurrence.py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准确的 GitHub 仓库名是 TaiPlan-desktop，作者 TaiWoo_Chen，README 标记 0.1.2，采用 MIT 许可。它用 Python + Streamlit 实现页面，pywebview 的 WebView2 窗口承载本机 Streamlit 子进程，不要求用户手动开浏览器。日历组件来自 streamlit-calendar / FullCalendar，SQLite 存储，AI 通过 requests 适配不同协议，keyring 使用 Windows 凭据管理器。打包链是 PyInstaller 与 Inno Setup。鸿蒙版本号与桌面版本号是各自迭代的标签，不能直接作完成度比较。</a:t>
            </a:r>
          </a:p>
          <a:p>
            <a:r>
              <a:t>来源：https://github.com/TanTaiwoo07/TaiPlan-desktop/blob/main/README.zh-CN.md；requirements.txt；taiplan/desktop_runtime.py；taiplan/ai_client.py；TaiPlan.spec；build_installer.py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不是把 Python 页面装进鸿蒙壳。继承的是产品结构和时间、重复、确认保存等语义；重写的是界面、运行环境和系统接入。桌面版依赖 Streamlit 和 FullCalendar；鸿蒙版使用 ArkUI 和原生时间网格。两端都使用本地 SQLite，但不意味着数据库直接兼容，当前也没有自动跨端同步。系统密钥和提醒需要各自平台适配。</a:t>
            </a:r>
          </a:p>
          <a:p>
            <a:r>
              <a:t>来源：https://github.com/TanTaiwoo07/TaiPlan-desktop/blob/main/README.zh-CN.md；https://github.com/TanTaiwoo07/TaiPlan-desktop/blob/main/taiplan/desktop_runtime.py；https://github.com/TanTaiwoo07/taiplan-harmony/blob/main/README.md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可回答考官三个问题。第一，为什么首页重构：功能堆积遮挡了紧急任务，所以分成四个入口。第二，实际定位过什么 bug：SVG 空心图标被 fillColor 覆盖填实，修正渲染方式并检查深浅色。第三，测试证明什么：154 项覆盖业务、SQLite 和适配器替身；原生构建安装与部分交互检查通过，不等于所有真机能力通过。提醒在模拟器返回 1700002，系统适配层保留失败状态，不回滚任务保存。原目录的 91 个受保护文件哈希保持一致。</a:t>
            </a:r>
          </a:p>
          <a:p>
            <a:r>
              <a:t>来源：https://github.com/TanTaiwoo07/taiplan-harmony/blob/main/docs/ICONS-101.md；docs/DELIVERY-100.md；本地 milestones/tests-icons.log、icons-integrity.json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建议现场演示顺序：今天概览，输入一条无时间任务，安排时间并编辑，完成再撤销，然后日历拖动预览，工作台展示离线解析，最后设置切换外观。不要把现场演示依赖于不确定的真实 AI 服务。已验证的是本机模拟器；中文语音、锁屏和退出后的提醒、重启恢复提醒、真实 AI 服务配置与密钥持续性、真机签名均要专项验收。模拟器提醒曾返回 1700002，所以不能承诺通知已实际送达。鸿蒙仓库私有，需要访问授权。GitHub 源码提交不等于应用商店上架。</a:t>
            </a:r>
          </a:p>
          <a:p>
            <a:r>
              <a:t>来源：https://github.com/TanTaiwoo07/taiplan-harmony/blob/main/README.md；docs/FEATURE-AUDIT-100.md；docs/DEMO-AND-DEFENSE.md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E04563F-70B0-4598-B70D-EAC639BD9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D0F8A4B-34CF-498B-A4ED-9A2CA1EDA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ADCDC38-E920-4AF5-9D8A-255AD074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A98923D-23A4-46C5-A4C4-EC5A55951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2D6FEB3-D94B-4350-B174-41003A43A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C9E767B-37A9-4686-8263-74FBA4C5B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D7E3797-50E3-4A99-BE57-65B8B660F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49CE6B2-6C47-43DC-AADF-D4ECF3A5785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D9E5E89-A94E-4950-A644-3DACBDA2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DD259AB-A28E-4EA1-9150-2866DFD5F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">
            <a:extLst>
              <a:ext uri="{FF2B5EF4-FFF2-40B4-BE49-F238E27FC236}">
                <a16:creationId xmlns:a16="http://schemas.microsoft.com/office/drawing/2014/main" id="{E8A5B08D-074E-4C38-8D6B-DE3719D94E1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AI 辅助开发 · 鸿蒙原生应用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9214E6A4-A634-4676-A7C7-4788521FE54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TaiPlan Harmony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5546A806-AD5A-4CEC-B515-FACC7F47F96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860AA086-8745-4F03-BA4C-93A97C3D90B6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83B75503-E84A-44D3-A69D-EE8BE2BA772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4295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05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405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把想到的事记下来，</a:t>
            </a:r>
          </a:p>
          <a:p>
            <a:pPr algn="l">
              <a:defRPr sz="405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把重要的事安排好。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6AC1C577-502D-42E3-9152-DB1C56260BCA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7620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0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待办 × 日历 × 可选个人工具</a:t>
            </a: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0650662F-F6A9-49EC-A0E0-AF4C10764F58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79057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作者：TaiWoo_Chen</a:t>
            </a:r>
          </a:p>
          <a:p>
            <a:pPr algn="l">
              <a:def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HarmonyOS API 26  ·  ArkTS / ArkUI / SQLite</a:t>
            </a:r>
          </a:p>
          <a:p>
            <a:pPr algn="l">
              <a:def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2026 年 10 月 11 日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AE5D2E29-F6B4-4B02-A1EE-C146E2D729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763000" y="2247900"/>
            <a:ext cx="23812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5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8">
            <a:extLst>
              <a:ext uri="{FF2B5EF4-FFF2-40B4-BE49-F238E27FC236}">
                <a16:creationId xmlns:a16="http://schemas.microsoft.com/office/drawing/2014/main" id="{73C75499-B09E-4699-B47F-713A99FF1BB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2" name="text-9">
            <a:extLst>
              <a:ext uri="{FF2B5EF4-FFF2-40B4-BE49-F238E27FC236}">
                <a16:creationId xmlns:a16="http://schemas.microsoft.com/office/drawing/2014/main" id="{4AE019D0-F07D-451B-86B4-BAE35BC4C7C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先记录，再决定如何安排</a:t>
            </a:r>
          </a:p>
        </p:txBody>
      </p:sp>
      <p:sp>
        <p:nvSpPr>
          <p:cNvPr id="3" name="text-10">
            <a:extLst>
              <a:ext uri="{FF2B5EF4-FFF2-40B4-BE49-F238E27FC236}">
                <a16:creationId xmlns:a16="http://schemas.microsoft.com/office/drawing/2014/main" id="{123EAE82-40D4-49AE-8BD5-5EA36192F61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11">
            <a:extLst>
              <a:ext uri="{FF2B5EF4-FFF2-40B4-BE49-F238E27FC236}">
                <a16:creationId xmlns:a16="http://schemas.microsoft.com/office/drawing/2014/main" id="{50C01E9E-4E4E-4AEE-A664-108B6ED1493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-12">
            <a:extLst>
              <a:ext uri="{FF2B5EF4-FFF2-40B4-BE49-F238E27FC236}">
                <a16:creationId xmlns:a16="http://schemas.microsoft.com/office/drawing/2014/main" id="{0C4B0872-0D33-43BF-8A02-E32A9DC2F0F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收集</a:t>
            </a:r>
          </a:p>
        </p:txBody>
      </p:sp>
      <p:sp>
        <p:nvSpPr>
          <p:cNvPr id="6" name="text-13">
            <a:extLst>
              <a:ext uri="{FF2B5EF4-FFF2-40B4-BE49-F238E27FC236}">
                <a16:creationId xmlns:a16="http://schemas.microsoft.com/office/drawing/2014/main" id="{D7A77FFC-96A2-4DE3-A233-52210687B2F2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临时想法不必先填时间，先进入收集箱。</a:t>
            </a:r>
          </a:p>
        </p:txBody>
      </p:sp>
      <p:sp>
        <p:nvSpPr>
          <p:cNvPr id="7" name="text-14">
            <a:extLst>
              <a:ext uri="{FF2B5EF4-FFF2-40B4-BE49-F238E27FC236}">
                <a16:creationId xmlns:a16="http://schemas.microsoft.com/office/drawing/2014/main" id="{93336536-7F31-464B-9541-00A34497AE52}"/>
              </a:ext>
            </a:extLst>
          </p:cNvPr>
          <p:cNvSpPr>
            <a:spLocks noGrp="1"/>
          </p:cNvSpPr>
          <p:nvPr/>
        </p:nvSpPr>
        <p:spPr>
          <a:xfrm>
            <a:off x="609600" y="3324225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安排</a:t>
            </a:r>
          </a:p>
        </p:txBody>
      </p:sp>
      <p:sp>
        <p:nvSpPr>
          <p:cNvPr id="8" name="text-15">
            <a:extLst>
              <a:ext uri="{FF2B5EF4-FFF2-40B4-BE49-F238E27FC236}">
                <a16:creationId xmlns:a16="http://schemas.microsoft.com/office/drawing/2014/main" id="{D0E81929-E14A-4B4D-8A34-FA6FF9CF9AD7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可以只指定日期，也可以设置起止时间。</a:t>
            </a:r>
          </a:p>
        </p:txBody>
      </p:sp>
      <p:sp>
        <p:nvSpPr>
          <p:cNvPr id="9" name="text-16">
            <a:extLst>
              <a:ext uri="{FF2B5EF4-FFF2-40B4-BE49-F238E27FC236}">
                <a16:creationId xmlns:a16="http://schemas.microsoft.com/office/drawing/2014/main" id="{6F986466-DCDC-483E-AFC7-2BA8CBF0939B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0" name="text-17">
            <a:extLst>
              <a:ext uri="{FF2B5EF4-FFF2-40B4-BE49-F238E27FC236}">
                <a16:creationId xmlns:a16="http://schemas.microsoft.com/office/drawing/2014/main" id="{540823F3-3E11-44E0-A585-482867E08ED9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优先处理紧急任务；完成后保留历史。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236C238-BD8C-4B10-AFD3-30E3A7282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1639193"/>
            <a:ext cx="2143125" cy="474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4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8">
            <a:extLst>
              <a:ext uri="{FF2B5EF4-FFF2-40B4-BE49-F238E27FC236}">
                <a16:creationId xmlns:a16="http://schemas.microsoft.com/office/drawing/2014/main" id="{AE4EF54C-956A-4BCE-A038-05CA90D3833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功能组织</a:t>
            </a:r>
          </a:p>
        </p:txBody>
      </p:sp>
      <p:sp>
        <p:nvSpPr>
          <p:cNvPr id="2" name="text-19">
            <a:extLst>
              <a:ext uri="{FF2B5EF4-FFF2-40B4-BE49-F238E27FC236}">
                <a16:creationId xmlns:a16="http://schemas.microsoft.com/office/drawing/2014/main" id="{2BABC3E9-F6BB-41FB-B613-FF787DC6F8B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四个主入口，承担四种不同任务</a:t>
            </a:r>
          </a:p>
        </p:txBody>
      </p:sp>
      <p:sp>
        <p:nvSpPr>
          <p:cNvPr id="3" name="text-20">
            <a:extLst>
              <a:ext uri="{FF2B5EF4-FFF2-40B4-BE49-F238E27FC236}">
                <a16:creationId xmlns:a16="http://schemas.microsoft.com/office/drawing/2014/main" id="{B4742126-D56B-41F0-8AB1-699D690A4F0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21">
            <a:extLst>
              <a:ext uri="{FF2B5EF4-FFF2-40B4-BE49-F238E27FC236}">
                <a16:creationId xmlns:a16="http://schemas.microsoft.com/office/drawing/2014/main" id="{4B64EBB6-D31B-4D81-9058-DCD042D7974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CEA62EE-26B1-478F-966D-FA2ACE86F86E}"/>
              </a:ext>
            </a:extLst>
          </p:cNvPr>
          <p:cNvGraphicFramePr/>
          <p:nvPr/>
        </p:nvGraphicFramePr>
        <p:xfrm>
          <a:off x="609600" y="1952625"/>
          <a:ext cx="10972800" cy="34766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</a:t>
                      </a:r>
                    </a:p>
                  </a:txBody>
                  <a:tcPr anchor="ctr">
                    <a:solidFill>
                      <a:srgbClr val="087E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用户想解决的问题</a:t>
                      </a:r>
                    </a:p>
                  </a:txBody>
                  <a:tcPr anchor="ctr">
                    <a:solidFill>
                      <a:srgbClr val="087E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主要能力</a:t>
                      </a:r>
                    </a:p>
                  </a:txBody>
                  <a:tcPr anchor="ctr">
                    <a:solidFill>
                      <a:srgbClr val="087E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今天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现在先做什么？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完成概览、紧急提示、快速收集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待办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还有哪些事要完成？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分区列表、编辑、搜索、标签、排序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时间应该怎样安排？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 / 月 / 周 / 日、时间块、重复日程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工作台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如何更高效地执行？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智能输入、辅助排程、专注与习惯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22">
            <a:extLst>
              <a:ext uri="{FF2B5EF4-FFF2-40B4-BE49-F238E27FC236}">
                <a16:creationId xmlns:a16="http://schemas.microsoft.com/office/drawing/2014/main" id="{6F32A53D-C232-48DA-B9EA-0F1B56F738A1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个人偏好、AI 配置与数据管理统一进入设置。</a:t>
            </a:r>
          </a:p>
        </p:txBody>
      </p:sp>
    </p:spTree>
    <p:extLst>
      <p:ext uri="{BB962C8B-B14F-4D97-AF65-F5344CB8AC3E}">
        <p14:creationId xmlns:p14="http://schemas.microsoft.com/office/powerpoint/2010/main" val="1407766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23">
            <a:extLst>
              <a:ext uri="{FF2B5EF4-FFF2-40B4-BE49-F238E27FC236}">
                <a16:creationId xmlns:a16="http://schemas.microsoft.com/office/drawing/2014/main" id="{DE4ED4F7-4209-4AF2-AEF0-72178805303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2" name="text-24">
            <a:extLst>
              <a:ext uri="{FF2B5EF4-FFF2-40B4-BE49-F238E27FC236}">
                <a16:creationId xmlns:a16="http://schemas.microsoft.com/office/drawing/2014/main" id="{94083F9A-BCDC-4270-8CB6-506528C8E30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待办是根本：让紧急事项一眼可见</a:t>
            </a:r>
          </a:p>
        </p:txBody>
      </p:sp>
      <p:sp>
        <p:nvSpPr>
          <p:cNvPr id="3" name="text-25">
            <a:extLst>
              <a:ext uri="{FF2B5EF4-FFF2-40B4-BE49-F238E27FC236}">
                <a16:creationId xmlns:a16="http://schemas.microsoft.com/office/drawing/2014/main" id="{72D0D88A-B0C4-4534-BE15-5DE089435F4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26">
            <a:extLst>
              <a:ext uri="{FF2B5EF4-FFF2-40B4-BE49-F238E27FC236}">
                <a16:creationId xmlns:a16="http://schemas.microsoft.com/office/drawing/2014/main" id="{822146E6-C5AB-4458-A740-0762202528EE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-27">
            <a:extLst>
              <a:ext uri="{FF2B5EF4-FFF2-40B4-BE49-F238E27FC236}">
                <a16:creationId xmlns:a16="http://schemas.microsoft.com/office/drawing/2014/main" id="{F1995D71-AECF-458C-99E0-729AAE24C8F7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完整的任务生命周期</a:t>
            </a:r>
          </a:p>
        </p:txBody>
      </p:sp>
      <p:sp>
        <p:nvSpPr>
          <p:cNvPr id="6" name="text-28">
            <a:extLst>
              <a:ext uri="{FF2B5EF4-FFF2-40B4-BE49-F238E27FC236}">
                <a16:creationId xmlns:a16="http://schemas.microsoft.com/office/drawing/2014/main" id="{2604AB93-440D-44F8-BAA3-214E07104BE3}"/>
              </a:ext>
            </a:extLst>
          </p:cNvPr>
          <p:cNvSpPr>
            <a:spLocks noGrp="1"/>
          </p:cNvSpPr>
          <p:nvPr/>
        </p:nvSpPr>
        <p:spPr>
          <a:xfrm>
            <a:off x="609600" y="2314575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新建 / 编辑 / 删除 / 完成与取消完成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支持删除撤销，保留用户修正空间。</a:t>
            </a:r>
          </a:p>
        </p:txBody>
      </p:sp>
      <p:sp>
        <p:nvSpPr>
          <p:cNvPr id="7" name="text-29">
            <a:extLst>
              <a:ext uri="{FF2B5EF4-FFF2-40B4-BE49-F238E27FC236}">
                <a16:creationId xmlns:a16="http://schemas.microsoft.com/office/drawing/2014/main" id="{BAC25B71-3021-4DDF-B00C-F3FB57DBAC9A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找到并整理任务</a:t>
            </a:r>
          </a:p>
        </p:txBody>
      </p:sp>
      <p:sp>
        <p:nvSpPr>
          <p:cNvPr id="8" name="text-30">
            <a:extLst>
              <a:ext uri="{FF2B5EF4-FFF2-40B4-BE49-F238E27FC236}">
                <a16:creationId xmlns:a16="http://schemas.microsoft.com/office/drawing/2014/main" id="{4D90568C-3AA6-40F2-B98D-434759642B0F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关键词搜索、标签筛选、高 / 中 / 低优先级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待办与完成分区，默认创建时间倒序。</a:t>
            </a:r>
          </a:p>
        </p:txBody>
      </p:sp>
      <p:sp>
        <p:nvSpPr>
          <p:cNvPr id="9" name="text-31">
            <a:extLst>
              <a:ext uri="{FF2B5EF4-FFF2-40B4-BE49-F238E27FC236}">
                <a16:creationId xmlns:a16="http://schemas.microsoft.com/office/drawing/2014/main" id="{C7A93709-33E1-49C4-9884-0026048C52B8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723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首页先呈现进度与紧急事项，</a:t>
            </a:r>
          </a:p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再提供行动入口。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3E2F2AF-0662-4153-A8AE-682AF8223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1639193"/>
            <a:ext cx="2143125" cy="474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22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2">
            <a:extLst>
              <a:ext uri="{FF2B5EF4-FFF2-40B4-BE49-F238E27FC236}">
                <a16:creationId xmlns:a16="http://schemas.microsoft.com/office/drawing/2014/main" id="{BD3E7E94-77F3-4B44-878D-FFF0B4A3985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时间管理</a:t>
            </a:r>
          </a:p>
        </p:txBody>
      </p:sp>
      <p:sp>
        <p:nvSpPr>
          <p:cNvPr id="2" name="text-33">
            <a:extLst>
              <a:ext uri="{FF2B5EF4-FFF2-40B4-BE49-F238E27FC236}">
                <a16:creationId xmlns:a16="http://schemas.microsoft.com/office/drawing/2014/main" id="{B1065026-7A12-4066-A7F1-2C58810084E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日历：从日期概览到具体时间块</a:t>
            </a:r>
          </a:p>
        </p:txBody>
      </p:sp>
      <p:sp>
        <p:nvSpPr>
          <p:cNvPr id="3" name="text-34">
            <a:extLst>
              <a:ext uri="{FF2B5EF4-FFF2-40B4-BE49-F238E27FC236}">
                <a16:creationId xmlns:a16="http://schemas.microsoft.com/office/drawing/2014/main" id="{43A0CD3D-E827-4A6F-96C7-C6B6C05F254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35">
            <a:extLst>
              <a:ext uri="{FF2B5EF4-FFF2-40B4-BE49-F238E27FC236}">
                <a16:creationId xmlns:a16="http://schemas.microsoft.com/office/drawing/2014/main" id="{EE25880E-212D-4006-A5F8-53096EF9C92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ext-36">
            <a:extLst>
              <a:ext uri="{FF2B5EF4-FFF2-40B4-BE49-F238E27FC236}">
                <a16:creationId xmlns:a16="http://schemas.microsoft.com/office/drawing/2014/main" id="{3766B157-D84D-455B-979C-7E3EF3EB0B88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多尺度视图</a:t>
            </a:r>
          </a:p>
        </p:txBody>
      </p:sp>
      <p:sp>
        <p:nvSpPr>
          <p:cNvPr id="6" name="text-37">
            <a:extLst>
              <a:ext uri="{FF2B5EF4-FFF2-40B4-BE49-F238E27FC236}">
                <a16:creationId xmlns:a16="http://schemas.microsoft.com/office/drawing/2014/main" id="{5AE01067-DDCD-4E8E-9F4F-2C93967967C1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年 / 月了解分布；周 / 日处理具体安排。</a:t>
            </a:r>
          </a:p>
        </p:txBody>
      </p:sp>
      <p:sp>
        <p:nvSpPr>
          <p:cNvPr id="7" name="text-38">
            <a:extLst>
              <a:ext uri="{FF2B5EF4-FFF2-40B4-BE49-F238E27FC236}">
                <a16:creationId xmlns:a16="http://schemas.microsoft.com/office/drawing/2014/main" id="{11FC9529-F1C2-4970-8ACA-2FE0EDF2AD16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直接操作时间块</a:t>
            </a:r>
          </a:p>
        </p:txBody>
      </p:sp>
      <p:sp>
        <p:nvSpPr>
          <p:cNvPr id="8" name="text-39">
            <a:extLst>
              <a:ext uri="{FF2B5EF4-FFF2-40B4-BE49-F238E27FC236}">
                <a16:creationId xmlns:a16="http://schemas.microsoft.com/office/drawing/2014/main" id="{564A419D-5728-45E9-870C-CBDFE38C692A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移动改期、拖动改时长、缩放刻度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修改先预览，确认后保存。</a:t>
            </a:r>
          </a:p>
        </p:txBody>
      </p:sp>
      <p:sp>
        <p:nvSpPr>
          <p:cNvPr id="9" name="text-40">
            <a:extLst>
              <a:ext uri="{FF2B5EF4-FFF2-40B4-BE49-F238E27FC236}">
                <a16:creationId xmlns:a16="http://schemas.microsoft.com/office/drawing/2014/main" id="{565D6B62-9970-4732-B1B6-DDE874E7B95E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重复与外部日历</a:t>
            </a:r>
          </a:p>
        </p:txBody>
      </p:sp>
      <p:sp>
        <p:nvSpPr>
          <p:cNvPr id="10" name="text-41">
            <a:extLst>
              <a:ext uri="{FF2B5EF4-FFF2-40B4-BE49-F238E27FC236}">
                <a16:creationId xmlns:a16="http://schemas.microsoft.com/office/drawing/2014/main" id="{25A92421-2F24-4B73-A8C1-71E22163F941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支持常见重复规则、单次例外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ICS 导入 / 导出用于课表与外部日程。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4035F19-1A32-4554-825B-DFDADF859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1639193"/>
            <a:ext cx="2143125" cy="474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0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42">
            <a:extLst>
              <a:ext uri="{FF2B5EF4-FFF2-40B4-BE49-F238E27FC236}">
                <a16:creationId xmlns:a16="http://schemas.microsoft.com/office/drawing/2014/main" id="{9DF229BD-47C2-4BF2-878A-E2848576BB6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AI 功能</a:t>
            </a:r>
          </a:p>
        </p:txBody>
      </p:sp>
      <p:sp>
        <p:nvSpPr>
          <p:cNvPr id="2" name="text-43">
            <a:extLst>
              <a:ext uri="{FF2B5EF4-FFF2-40B4-BE49-F238E27FC236}">
                <a16:creationId xmlns:a16="http://schemas.microsoft.com/office/drawing/2014/main" id="{0E359745-46AF-4A2E-992A-9AA4CD0ED6B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智能输入与排程，先给建议再保存</a:t>
            </a:r>
          </a:p>
        </p:txBody>
      </p:sp>
      <p:sp>
        <p:nvSpPr>
          <p:cNvPr id="3" name="text-44">
            <a:extLst>
              <a:ext uri="{FF2B5EF4-FFF2-40B4-BE49-F238E27FC236}">
                <a16:creationId xmlns:a16="http://schemas.microsoft.com/office/drawing/2014/main" id="{D7FC4150-0DD7-4CBD-B29D-86596918060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45">
            <a:extLst>
              <a:ext uri="{FF2B5EF4-FFF2-40B4-BE49-F238E27FC236}">
                <a16:creationId xmlns:a16="http://schemas.microsoft.com/office/drawing/2014/main" id="{D243DCAA-5B76-4E54-A622-E7D37303063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-46">
            <a:extLst>
              <a:ext uri="{FF2B5EF4-FFF2-40B4-BE49-F238E27FC236}">
                <a16:creationId xmlns:a16="http://schemas.microsoft.com/office/drawing/2014/main" id="{4F60B4DC-B94C-4954-960F-870805ABCDEF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一句话变成可编辑草稿</a:t>
            </a:r>
          </a:p>
        </p:txBody>
      </p:sp>
      <p:sp>
        <p:nvSpPr>
          <p:cNvPr id="6" name="text-47">
            <a:extLst>
              <a:ext uri="{FF2B5EF4-FFF2-40B4-BE49-F238E27FC236}">
                <a16:creationId xmlns:a16="http://schemas.microsoft.com/office/drawing/2014/main" id="{61B2EFA0-1501-4B24-9194-776DEDB7A0B9}"/>
              </a:ext>
            </a:extLst>
          </p:cNvPr>
          <p:cNvSpPr>
            <a:spLocks noGrp="1"/>
          </p:cNvSpPr>
          <p:nvPr/>
        </p:nvSpPr>
        <p:spPr>
          <a:xfrm>
            <a:off x="609600" y="2314575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“明天下午三点到四点，在图书馆复习英语”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提取日期、时间、地点与任务内容。</a:t>
            </a:r>
          </a:p>
        </p:txBody>
      </p:sp>
      <p:sp>
        <p:nvSpPr>
          <p:cNvPr id="7" name="text-48">
            <a:extLst>
              <a:ext uri="{FF2B5EF4-FFF2-40B4-BE49-F238E27FC236}">
                <a16:creationId xmlns:a16="http://schemas.microsoft.com/office/drawing/2014/main" id="{FC514306-E41C-4C66-95C2-D3F1A050875C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为忙碌的日程提供建议</a:t>
            </a:r>
          </a:p>
        </p:txBody>
      </p:sp>
      <p:sp>
        <p:nvSpPr>
          <p:cNvPr id="8" name="text-49">
            <a:extLst>
              <a:ext uri="{FF2B5EF4-FFF2-40B4-BE49-F238E27FC236}">
                <a16:creationId xmlns:a16="http://schemas.microsoft.com/office/drawing/2014/main" id="{21D9DA88-24D4-4721-B091-B50B90628FE8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查找空闲时间，给出安排与理由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保留现有固定安排，用户决定采用哪些。</a:t>
            </a:r>
          </a:p>
        </p:txBody>
      </p:sp>
      <p:sp>
        <p:nvSpPr>
          <p:cNvPr id="9" name="text-50">
            <a:extLst>
              <a:ext uri="{FF2B5EF4-FFF2-40B4-BE49-F238E27FC236}">
                <a16:creationId xmlns:a16="http://schemas.microsoft.com/office/drawing/2014/main" id="{7F7CF2A1-69B1-40D4-8941-CE5C6D9145EA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解析 / 建议 → 校验 → 预览确认 → 保存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61724EE-54C6-4A6E-A3BF-F0D198741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1639193"/>
            <a:ext cx="2143125" cy="474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00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51">
            <a:extLst>
              <a:ext uri="{FF2B5EF4-FFF2-40B4-BE49-F238E27FC236}">
                <a16:creationId xmlns:a16="http://schemas.microsoft.com/office/drawing/2014/main" id="{60DE5F67-3570-4068-B514-A509DBEDA61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体验与个性化</a:t>
            </a:r>
          </a:p>
        </p:txBody>
      </p:sp>
      <p:sp>
        <p:nvSpPr>
          <p:cNvPr id="2" name="text-52">
            <a:extLst>
              <a:ext uri="{FF2B5EF4-FFF2-40B4-BE49-F238E27FC236}">
                <a16:creationId xmlns:a16="http://schemas.microsoft.com/office/drawing/2014/main" id="{D34C6456-5446-485B-8373-F3148BD26A6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工具可以丰富，界面可以保持简单</a:t>
            </a:r>
          </a:p>
        </p:txBody>
      </p:sp>
      <p:sp>
        <p:nvSpPr>
          <p:cNvPr id="3" name="text-53">
            <a:extLst>
              <a:ext uri="{FF2B5EF4-FFF2-40B4-BE49-F238E27FC236}">
                <a16:creationId xmlns:a16="http://schemas.microsoft.com/office/drawing/2014/main" id="{3D978792-9E0F-4B18-9C6F-CFD16F5B32D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54">
            <a:extLst>
              <a:ext uri="{FF2B5EF4-FFF2-40B4-BE49-F238E27FC236}">
                <a16:creationId xmlns:a16="http://schemas.microsoft.com/office/drawing/2014/main" id="{5C2B65D9-F0F6-4F85-993A-84C38E7C856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ext-55">
            <a:extLst>
              <a:ext uri="{FF2B5EF4-FFF2-40B4-BE49-F238E27FC236}">
                <a16:creationId xmlns:a16="http://schemas.microsoft.com/office/drawing/2014/main" id="{5B706FD7-39D6-4EE0-8CC6-699A006835AA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647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按需开启工具</a:t>
            </a:r>
          </a:p>
        </p:txBody>
      </p:sp>
      <p:sp>
        <p:nvSpPr>
          <p:cNvPr id="6" name="text-56">
            <a:extLst>
              <a:ext uri="{FF2B5EF4-FFF2-40B4-BE49-F238E27FC236}">
                <a16:creationId xmlns:a16="http://schemas.microsoft.com/office/drawing/2014/main" id="{83F7381F-45B0-4EAF-926A-DB841F328E51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6477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专注计时、习惯打卡、倒数日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模块开关帮助用户减少无关入口。</a:t>
            </a:r>
          </a:p>
        </p:txBody>
      </p:sp>
      <p:sp>
        <p:nvSpPr>
          <p:cNvPr id="7" name="text-57">
            <a:extLst>
              <a:ext uri="{FF2B5EF4-FFF2-40B4-BE49-F238E27FC236}">
                <a16:creationId xmlns:a16="http://schemas.microsoft.com/office/drawing/2014/main" id="{BDDCAF02-46E0-470E-ACAF-47F483E9F7B0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647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遵循用户偏好</a:t>
            </a:r>
          </a:p>
        </p:txBody>
      </p:sp>
      <p:sp>
        <p:nvSpPr>
          <p:cNvPr id="8" name="text-58">
            <a:extLst>
              <a:ext uri="{FF2B5EF4-FFF2-40B4-BE49-F238E27FC236}">
                <a16:creationId xmlns:a16="http://schemas.microsoft.com/office/drawing/2014/main" id="{9F72A2C0-ADED-422C-9291-9912563C1974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6477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跟随系统 / 浅色 / 深色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减少动画、清单标签与数据管理。</a:t>
            </a:r>
          </a:p>
        </p:txBody>
      </p:sp>
      <p:sp>
        <p:nvSpPr>
          <p:cNvPr id="9" name="text-59">
            <a:extLst>
              <a:ext uri="{FF2B5EF4-FFF2-40B4-BE49-F238E27FC236}">
                <a16:creationId xmlns:a16="http://schemas.microsoft.com/office/drawing/2014/main" id="{8777ACBF-9BCA-4840-8416-773130092C3A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638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复杂能力留在工作台；主要任务仍然突出。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9CE52EA-B823-450D-9D60-09B086EEE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67600" y="1719620"/>
            <a:ext cx="1924050" cy="42569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8CC717B-DADE-416A-8559-9082A97B7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639300" y="1719620"/>
            <a:ext cx="1924050" cy="425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63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60">
            <a:extLst>
              <a:ext uri="{FF2B5EF4-FFF2-40B4-BE49-F238E27FC236}">
                <a16:creationId xmlns:a16="http://schemas.microsoft.com/office/drawing/2014/main" id="{64624ECC-4FD7-46DC-83A6-8E37236CCC7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鸿蒙体验</a:t>
            </a:r>
          </a:p>
        </p:txBody>
      </p:sp>
      <p:sp>
        <p:nvSpPr>
          <p:cNvPr id="2" name="text-61">
            <a:extLst>
              <a:ext uri="{FF2B5EF4-FFF2-40B4-BE49-F238E27FC236}">
                <a16:creationId xmlns:a16="http://schemas.microsoft.com/office/drawing/2014/main" id="{D881F92F-8C28-485D-9478-E45E85011D6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原生界面与统一图标，不靠网页模拟</a:t>
            </a:r>
          </a:p>
        </p:txBody>
      </p:sp>
      <p:sp>
        <p:nvSpPr>
          <p:cNvPr id="3" name="text-62">
            <a:extLst>
              <a:ext uri="{FF2B5EF4-FFF2-40B4-BE49-F238E27FC236}">
                <a16:creationId xmlns:a16="http://schemas.microsoft.com/office/drawing/2014/main" id="{27DE4B41-3221-47D5-90A5-F2787EF7484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63">
            <a:extLst>
              <a:ext uri="{FF2B5EF4-FFF2-40B4-BE49-F238E27FC236}">
                <a16:creationId xmlns:a16="http://schemas.microsoft.com/office/drawing/2014/main" id="{3AE95D73-55BC-4432-A82A-15B120D7883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-64">
            <a:extLst>
              <a:ext uri="{FF2B5EF4-FFF2-40B4-BE49-F238E27FC236}">
                <a16:creationId xmlns:a16="http://schemas.microsoft.com/office/drawing/2014/main" id="{9D622A77-C733-41C2-A77F-B4912F923398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统一视觉语言</a:t>
            </a:r>
          </a:p>
        </p:txBody>
      </p:sp>
      <p:sp>
        <p:nvSpPr>
          <p:cNvPr id="6" name="text-65">
            <a:extLst>
              <a:ext uri="{FF2B5EF4-FFF2-40B4-BE49-F238E27FC236}">
                <a16:creationId xmlns:a16="http://schemas.microsoft.com/office/drawing/2014/main" id="{8F0E2CE9-EF05-416C-8040-89B84793C9CA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74 个自绘 SVG，适配浅深色与选中态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低饱和绿为强调色，红色只突出紧急语义。</a:t>
            </a:r>
          </a:p>
        </p:txBody>
      </p:sp>
      <p:sp>
        <p:nvSpPr>
          <p:cNvPr id="7" name="text-66">
            <a:extLst>
              <a:ext uri="{FF2B5EF4-FFF2-40B4-BE49-F238E27FC236}">
                <a16:creationId xmlns:a16="http://schemas.microsoft.com/office/drawing/2014/main" id="{486D942F-085D-4DF5-AE6E-5CC5BB04052C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系统材质与动效</a:t>
            </a:r>
          </a:p>
        </p:txBody>
      </p:sp>
      <p:sp>
        <p:nvSpPr>
          <p:cNvPr id="8" name="text-67">
            <a:extLst>
              <a:ext uri="{FF2B5EF4-FFF2-40B4-BE49-F238E27FC236}">
                <a16:creationId xmlns:a16="http://schemas.microsoft.com/office/drawing/2014/main" id="{B2A29383-11F7-494C-85B0-5B3D066B4631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704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API 26 官方浮动底栏与原生面板材质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非线性过渡、拖动反馈、减少动画选项。</a:t>
            </a:r>
          </a:p>
        </p:txBody>
      </p:sp>
      <p:sp>
        <p:nvSpPr>
          <p:cNvPr id="9" name="text-68">
            <a:extLst>
              <a:ext uri="{FF2B5EF4-FFF2-40B4-BE49-F238E27FC236}">
                <a16:creationId xmlns:a16="http://schemas.microsoft.com/office/drawing/2014/main" id="{B5590F56-E1DB-467A-B399-1F557AC6BF7F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7239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材质使用遵循组件支持范围；</a:t>
            </a:r>
          </a:p>
          <a:p>
            <a:pPr algn="l">
              <a:def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普通内容卡片保持清晰、稳定。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1D22206-3AD2-4AC2-9167-CCFD275F3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1639193"/>
            <a:ext cx="2143125" cy="474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82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69">
            <a:extLst>
              <a:ext uri="{FF2B5EF4-FFF2-40B4-BE49-F238E27FC236}">
                <a16:creationId xmlns:a16="http://schemas.microsoft.com/office/drawing/2014/main" id="{A1707668-196E-4B24-89E8-C6AD18A1723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技术原理</a:t>
            </a:r>
          </a:p>
        </p:txBody>
      </p:sp>
      <p:sp>
        <p:nvSpPr>
          <p:cNvPr id="2" name="text-70">
            <a:extLst>
              <a:ext uri="{FF2B5EF4-FFF2-40B4-BE49-F238E27FC236}">
                <a16:creationId xmlns:a16="http://schemas.microsoft.com/office/drawing/2014/main" id="{4829ACA7-71FB-4000-9741-2231B02889B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实现分层：界面、规则、数据、系统</a:t>
            </a:r>
          </a:p>
        </p:txBody>
      </p:sp>
      <p:sp>
        <p:nvSpPr>
          <p:cNvPr id="3" name="text-71">
            <a:extLst>
              <a:ext uri="{FF2B5EF4-FFF2-40B4-BE49-F238E27FC236}">
                <a16:creationId xmlns:a16="http://schemas.microsoft.com/office/drawing/2014/main" id="{A086C648-40CA-48C7-A8FA-5C1464356C0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72">
            <a:extLst>
              <a:ext uri="{FF2B5EF4-FFF2-40B4-BE49-F238E27FC236}">
                <a16:creationId xmlns:a16="http://schemas.microsoft.com/office/drawing/2014/main" id="{30EA1339-0015-4187-85DB-A3524F92244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B368085-7B10-479C-81B1-BB90804B774C}"/>
              </a:ext>
            </a:extLst>
          </p:cNvPr>
          <p:cNvGraphicFramePr/>
          <p:nvPr/>
        </p:nvGraphicFramePr>
        <p:xfrm>
          <a:off x="609600" y="1905000"/>
          <a:ext cx="10972800" cy="342900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</a:t>
                      </a:r>
                    </a:p>
                  </a:txBody>
                  <a:tcPr anchor="ctr">
                    <a:solidFill>
                      <a:srgbClr val="087E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主要实现</a:t>
                      </a:r>
                    </a:p>
                  </a:txBody>
                  <a:tcPr anchor="ctr">
                    <a:solidFill>
                      <a:srgbClr val="087E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负责什么</a:t>
                      </a:r>
                    </a:p>
                  </a:txBody>
                  <a:tcPr anchor="ctr">
                    <a:solidFill>
                      <a:srgbClr val="087E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界面层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ArkTS / ArkUI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四页导航、表单、时间网格、交互状态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业务层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services + model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时间与重复规则、解析、校验、排程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TaskRepository + SQLite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事务保存、单次覆盖、备份与恢复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系统适配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platform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请求、安全密钥、语音、系统提醒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73">
            <a:extLst>
              <a:ext uri="{FF2B5EF4-FFF2-40B4-BE49-F238E27FC236}">
                <a16:creationId xmlns:a16="http://schemas.microsoft.com/office/drawing/2014/main" id="{9B8CCBC1-A4EF-4141-9928-4F1AF4C2A38B}"/>
              </a:ext>
            </a:extLst>
          </p:cNvPr>
          <p:cNvSpPr>
            <a:spLocks noGrp="1"/>
          </p:cNvSpPr>
          <p:nvPr/>
        </p:nvSpPr>
        <p:spPr>
          <a:xfrm>
            <a:off x="609600" y="570547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保存流程：输入 → 校验 → 数据库事务 → 刷新 → 同步提醒</a:t>
            </a:r>
          </a:p>
        </p:txBody>
      </p:sp>
    </p:spTree>
    <p:extLst>
      <p:ext uri="{BB962C8B-B14F-4D97-AF65-F5344CB8AC3E}">
        <p14:creationId xmlns:p14="http://schemas.microsoft.com/office/powerpoint/2010/main" val="794632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74">
            <a:extLst>
              <a:ext uri="{FF2B5EF4-FFF2-40B4-BE49-F238E27FC236}">
                <a16:creationId xmlns:a16="http://schemas.microsoft.com/office/drawing/2014/main" id="{49AB44B0-4F60-41FA-ACCE-847B9DD7846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数据原理</a:t>
            </a:r>
          </a:p>
        </p:txBody>
      </p:sp>
      <p:sp>
        <p:nvSpPr>
          <p:cNvPr id="2" name="text-75">
            <a:extLst>
              <a:ext uri="{FF2B5EF4-FFF2-40B4-BE49-F238E27FC236}">
                <a16:creationId xmlns:a16="http://schemas.microsoft.com/office/drawing/2014/main" id="{955E8115-8D7A-497E-B4B8-816A35E5F0E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重复日程：模板与单次例外分开存</a:t>
            </a:r>
          </a:p>
        </p:txBody>
      </p:sp>
      <p:sp>
        <p:nvSpPr>
          <p:cNvPr id="3" name="text-76">
            <a:extLst>
              <a:ext uri="{FF2B5EF4-FFF2-40B4-BE49-F238E27FC236}">
                <a16:creationId xmlns:a16="http://schemas.microsoft.com/office/drawing/2014/main" id="{3F45FD64-7C07-4551-A920-78061355FE6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77">
            <a:extLst>
              <a:ext uri="{FF2B5EF4-FFF2-40B4-BE49-F238E27FC236}">
                <a16:creationId xmlns:a16="http://schemas.microsoft.com/office/drawing/2014/main" id="{D2B2B76B-8D62-42D4-93B3-5A6F915A62C4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-78">
            <a:extLst>
              <a:ext uri="{FF2B5EF4-FFF2-40B4-BE49-F238E27FC236}">
                <a16:creationId xmlns:a16="http://schemas.microsoft.com/office/drawing/2014/main" id="{EB9FA2A0-7E14-441A-92B1-12F6254E377A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只保存规则，不无限复制未来任务</a:t>
            </a:r>
          </a:p>
        </p:txBody>
      </p:sp>
      <p:sp>
        <p:nvSpPr>
          <p:cNvPr id="6" name="text-79">
            <a:extLst>
              <a:ext uri="{FF2B5EF4-FFF2-40B4-BE49-F238E27FC236}">
                <a16:creationId xmlns:a16="http://schemas.microsoft.com/office/drawing/2014/main" id="{6A0F2E16-AA69-4758-98AB-A77C714AA6FB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一条系列模板 + 查询日期范围 → 当前可见发生项</a:t>
            </a:r>
          </a:p>
        </p:txBody>
      </p:sp>
      <p:sp>
        <p:nvSpPr>
          <p:cNvPr id="7" name="text-80">
            <a:extLst>
              <a:ext uri="{FF2B5EF4-FFF2-40B4-BE49-F238E27FC236}">
                <a16:creationId xmlns:a16="http://schemas.microsoft.com/office/drawing/2014/main" id="{287AC69A-A972-4382-A5FE-CAB6B395B408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单次修改保留原来的身份</a:t>
            </a:r>
          </a:p>
        </p:txBody>
      </p:sp>
      <p:sp>
        <p:nvSpPr>
          <p:cNvPr id="8" name="text-81">
            <a:extLst>
              <a:ext uri="{FF2B5EF4-FFF2-40B4-BE49-F238E27FC236}">
                <a16:creationId xmlns:a16="http://schemas.microsoft.com/office/drawing/2014/main" id="{8E7BABE8-F578-4406-A1EC-45BB75F42E1C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例如：每周三 19:00 学习；本周改到周四。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标识仍是“系列 ID + 原周三日期”，周四时间作为覆盖。</a:t>
            </a:r>
          </a:p>
        </p:txBody>
      </p:sp>
      <p:sp>
        <p:nvSpPr>
          <p:cNvPr id="9" name="text-82">
            <a:extLst>
              <a:ext uri="{FF2B5EF4-FFF2-40B4-BE49-F238E27FC236}">
                <a16:creationId xmlns:a16="http://schemas.microsoft.com/office/drawing/2014/main" id="{4C904A78-9947-4648-8505-D6E9FEDA7418}"/>
              </a:ext>
            </a:extLst>
          </p:cNvPr>
          <p:cNvSpPr>
            <a:spLocks noGrp="1"/>
          </p:cNvSpPr>
          <p:nvPr/>
        </p:nvSpPr>
        <p:spPr>
          <a:xfrm>
            <a:off x="609600" y="4943475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状态与历史得到保护</a:t>
            </a:r>
          </a:p>
        </p:txBody>
      </p:sp>
      <p:sp>
        <p:nvSpPr>
          <p:cNvPr id="10" name="text-83">
            <a:extLst>
              <a:ext uri="{FF2B5EF4-FFF2-40B4-BE49-F238E27FC236}">
                <a16:creationId xmlns:a16="http://schemas.microsoft.com/office/drawing/2014/main" id="{A47BCDFB-AFC5-408E-B107-9DBFBFA95729}"/>
              </a:ext>
            </a:extLst>
          </p:cNvPr>
          <p:cNvSpPr>
            <a:spLocks noGrp="1"/>
          </p:cNvSpPr>
          <p:nvPr/>
        </p:nvSpPr>
        <p:spPr>
          <a:xfrm>
            <a:off x="609600" y="5400675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单次完成独立保存；改系列时保护历史。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备份覆盖任务、工具与偏好；恢复失败整体回滚。</a:t>
            </a:r>
          </a:p>
        </p:txBody>
      </p:sp>
    </p:spTree>
    <p:extLst>
      <p:ext uri="{BB962C8B-B14F-4D97-AF65-F5344CB8AC3E}">
        <p14:creationId xmlns:p14="http://schemas.microsoft.com/office/powerpoint/2010/main" val="1005306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84">
            <a:extLst>
              <a:ext uri="{FF2B5EF4-FFF2-40B4-BE49-F238E27FC236}">
                <a16:creationId xmlns:a16="http://schemas.microsoft.com/office/drawing/2014/main" id="{89106B05-4595-4377-8310-0693301D3C6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项目来源</a:t>
            </a:r>
          </a:p>
        </p:txBody>
      </p:sp>
      <p:sp>
        <p:nvSpPr>
          <p:cNvPr id="2" name="text-85">
            <a:extLst>
              <a:ext uri="{FF2B5EF4-FFF2-40B4-BE49-F238E27FC236}">
                <a16:creationId xmlns:a16="http://schemas.microsoft.com/office/drawing/2014/main" id="{3B5EF043-1F7F-4BD0-8295-8B13AD2B30EC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桌面母项目：TaiPlan-desktop</a:t>
            </a:r>
          </a:p>
        </p:txBody>
      </p:sp>
      <p:sp>
        <p:nvSpPr>
          <p:cNvPr id="3" name="text-86">
            <a:extLst>
              <a:ext uri="{FF2B5EF4-FFF2-40B4-BE49-F238E27FC236}">
                <a16:creationId xmlns:a16="http://schemas.microsoft.com/office/drawing/2014/main" id="{79FE0D00-7935-4548-9AF6-35A9E5471CF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87">
            <a:extLst>
              <a:ext uri="{FF2B5EF4-FFF2-40B4-BE49-F238E27FC236}">
                <a16:creationId xmlns:a16="http://schemas.microsoft.com/office/drawing/2014/main" id="{6822BA06-D1C6-4AC6-8C35-E247FEEF527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text-88">
            <a:extLst>
              <a:ext uri="{FF2B5EF4-FFF2-40B4-BE49-F238E27FC236}">
                <a16:creationId xmlns:a16="http://schemas.microsoft.com/office/drawing/2014/main" id="{F6F03C9B-6D99-482C-B248-D024E530B73E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5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从自己已有的 Windows 产品出发</a:t>
            </a:r>
          </a:p>
        </p:txBody>
      </p:sp>
      <p:sp>
        <p:nvSpPr>
          <p:cNvPr id="6" name="text-89">
            <a:extLst>
              <a:ext uri="{FF2B5EF4-FFF2-40B4-BE49-F238E27FC236}">
                <a16:creationId xmlns:a16="http://schemas.microsoft.com/office/drawing/2014/main" id="{D621790D-44A1-41BE-B826-228285680DA5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产品经验：收集箱、待办、日历、重复日程、提醒、AI 输入。</a:t>
            </a:r>
          </a:p>
        </p:txBody>
      </p:sp>
      <p:sp>
        <p:nvSpPr>
          <p:cNvPr id="7" name="text-90">
            <a:extLst>
              <a:ext uri="{FF2B5EF4-FFF2-40B4-BE49-F238E27FC236}">
                <a16:creationId xmlns:a16="http://schemas.microsoft.com/office/drawing/2014/main" id="{06DB164A-E3AD-4A34-B5D4-4F4DA3711BDE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界面：Python + Streamlit；pywebview / WebView2 桌面窗口。</a:t>
            </a:r>
          </a:p>
          <a:p>
            <a:pPr algn="l">
              <a:def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日历：streamlit-calendar / FullCalendar；数据：SQLite。</a:t>
            </a:r>
          </a:p>
          <a:p>
            <a:pPr algn="l">
              <a:def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系统：Windows 提醒、托盘、凭据管理器；EXE 安装交付。</a:t>
            </a:r>
          </a:p>
        </p:txBody>
      </p:sp>
      <p:sp>
        <p:nvSpPr>
          <p:cNvPr id="8" name="text-91">
            <a:extLst>
              <a:ext uri="{FF2B5EF4-FFF2-40B4-BE49-F238E27FC236}">
                <a16:creationId xmlns:a16="http://schemas.microsoft.com/office/drawing/2014/main" id="{193B937B-62DA-4852-8C56-28DD9192EA83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668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公开仓库  ·  README 版本 0.1.2  ·  MIT 许可</a:t>
            </a:r>
          </a:p>
          <a:p>
            <a:pPr algn="l">
              <a:def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github.com/TanTaiwoo07/TaiPlan-desktop</a:t>
            </a:r>
          </a:p>
        </p:txBody>
      </p:sp>
    </p:spTree>
    <p:extLst>
      <p:ext uri="{BB962C8B-B14F-4D97-AF65-F5344CB8AC3E}">
        <p14:creationId xmlns:p14="http://schemas.microsoft.com/office/powerpoint/2010/main" val="546764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92">
            <a:extLst>
              <a:ext uri="{FF2B5EF4-FFF2-40B4-BE49-F238E27FC236}">
                <a16:creationId xmlns:a16="http://schemas.microsoft.com/office/drawing/2014/main" id="{043FAA65-93F8-4828-BE08-1FC8E1BFCE2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桌面版与鸿蒙版</a:t>
            </a:r>
          </a:p>
        </p:txBody>
      </p:sp>
      <p:sp>
        <p:nvSpPr>
          <p:cNvPr id="2" name="text-93">
            <a:extLst>
              <a:ext uri="{FF2B5EF4-FFF2-40B4-BE49-F238E27FC236}">
                <a16:creationId xmlns:a16="http://schemas.microsoft.com/office/drawing/2014/main" id="{8A92B87B-D13F-4287-89B9-C78F7C28433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迁移产品逻辑，重写平台实现</a:t>
            </a:r>
          </a:p>
        </p:txBody>
      </p:sp>
      <p:sp>
        <p:nvSpPr>
          <p:cNvPr id="3" name="text-94">
            <a:extLst>
              <a:ext uri="{FF2B5EF4-FFF2-40B4-BE49-F238E27FC236}">
                <a16:creationId xmlns:a16="http://schemas.microsoft.com/office/drawing/2014/main" id="{20129E66-394B-485E-B020-FAA8F3CC6E4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95">
            <a:extLst>
              <a:ext uri="{FF2B5EF4-FFF2-40B4-BE49-F238E27FC236}">
                <a16:creationId xmlns:a16="http://schemas.microsoft.com/office/drawing/2014/main" id="{786911B0-C4E2-438F-8D16-FBDAE75487C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3C4096F-3649-4DB8-A003-FE4E5A2B8502}"/>
              </a:ext>
            </a:extLst>
          </p:cNvPr>
          <p:cNvGraphicFramePr/>
          <p:nvPr/>
        </p:nvGraphicFramePr>
        <p:xfrm>
          <a:off x="609600" y="1885950"/>
          <a:ext cx="10972800" cy="3381375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anchor="ctr">
                    <a:solidFill>
                      <a:srgbClr val="087E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桌面母项目</a:t>
                      </a:r>
                    </a:p>
                  </a:txBody>
                  <a:tcPr anchor="ctr">
                    <a:solidFill>
                      <a:srgbClr val="087E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鸿蒙原生版</a:t>
                      </a:r>
                    </a:p>
                  </a:txBody>
                  <a:tcPr anchor="ctr">
                    <a:solidFill>
                      <a:srgbClr val="087E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语言与界面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/ Streamlit / WebView2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ArkTS / ArkUI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日历实现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FullCalendar 组件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原生时间网格与手势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数据与密钥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/ Windows 凭据管理器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/ 系统安全资产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系统与交付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 提醒与托盘 / EXE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2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鸿蒙提醒与语音适配 / HAP</a:t>
                      </a:r>
                    </a:p>
                  </a:txBody>
                  <a:tcPr anchor="ctr">
                    <a:solidFill>
                      <a:srgbClr val="E7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96">
            <a:extLst>
              <a:ext uri="{FF2B5EF4-FFF2-40B4-BE49-F238E27FC236}">
                <a16:creationId xmlns:a16="http://schemas.microsoft.com/office/drawing/2014/main" id="{3A44617C-2472-46CB-B9D6-97BC60CB8405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继承任务语义与规则；不代表直接复用 Python 或自动跨端同步。</a:t>
            </a:r>
          </a:p>
        </p:txBody>
      </p:sp>
    </p:spTree>
    <p:extLst>
      <p:ext uri="{BB962C8B-B14F-4D97-AF65-F5344CB8AC3E}">
        <p14:creationId xmlns:p14="http://schemas.microsoft.com/office/powerpoint/2010/main" val="372388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97">
            <a:extLst>
              <a:ext uri="{FF2B5EF4-FFF2-40B4-BE49-F238E27FC236}">
                <a16:creationId xmlns:a16="http://schemas.microsoft.com/office/drawing/2014/main" id="{33D11D55-DCB6-4759-BB8A-A4BE4EC0071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开发与问题排查</a:t>
            </a:r>
          </a:p>
        </p:txBody>
      </p:sp>
      <p:sp>
        <p:nvSpPr>
          <p:cNvPr id="2" name="text-98">
            <a:extLst>
              <a:ext uri="{FF2B5EF4-FFF2-40B4-BE49-F238E27FC236}">
                <a16:creationId xmlns:a16="http://schemas.microsoft.com/office/drawing/2014/main" id="{EF6F7660-CCD7-4596-8D6D-95DC5927072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用 AI 加速开发，用验证决定是否交付</a:t>
            </a:r>
          </a:p>
        </p:txBody>
      </p:sp>
      <p:sp>
        <p:nvSpPr>
          <p:cNvPr id="3" name="text-99">
            <a:extLst>
              <a:ext uri="{FF2B5EF4-FFF2-40B4-BE49-F238E27FC236}">
                <a16:creationId xmlns:a16="http://schemas.microsoft.com/office/drawing/2014/main" id="{572BF26F-1123-4A25-B64B-021C3E2DEB5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100">
            <a:extLst>
              <a:ext uri="{FF2B5EF4-FFF2-40B4-BE49-F238E27FC236}">
                <a16:creationId xmlns:a16="http://schemas.microsoft.com/office/drawing/2014/main" id="{306EF4A6-B5F6-46CC-B594-FFB156E3A22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text-101">
            <a:extLst>
              <a:ext uri="{FF2B5EF4-FFF2-40B4-BE49-F238E27FC236}">
                <a16:creationId xmlns:a16="http://schemas.microsoft.com/office/drawing/2014/main" id="{D017C858-3A31-4308-BB1E-8BF7A32D336F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产品验收推动重构</a:t>
            </a:r>
            <a:endParaRPr sz="2250" b="1" dirty="0">
              <a:solidFill>
                <a:srgbClr val="087E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02">
            <a:extLst>
              <a:ext uri="{FF2B5EF4-FFF2-40B4-BE49-F238E27FC236}">
                <a16:creationId xmlns:a16="http://schemas.microsoft.com/office/drawing/2014/main" id="{36210498-66DF-4A29-A4CD-770EF42774D3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首页拥挤</a:t>
            </a:r>
            <a:r>
              <a:rPr sz="2025" b="0" dirty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2025" b="0" dirty="0" err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四个入口分层</a:t>
            </a:r>
            <a:endParaRPr sz="2025" b="0" dirty="0">
              <a:solidFill>
                <a:srgbClr val="18282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图标填实</a:t>
            </a:r>
            <a:r>
              <a:rPr sz="2025" b="0" dirty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2025" b="0" dirty="0" err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修正</a:t>
            </a:r>
            <a:r>
              <a:rPr sz="2025" b="0" dirty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 SVG </a:t>
            </a:r>
            <a:r>
              <a:rPr sz="2025" b="0" dirty="0" err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渲染并检查浅深色</a:t>
            </a:r>
            <a:r>
              <a:rPr sz="2025" b="0" dirty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text-103">
            <a:extLst>
              <a:ext uri="{FF2B5EF4-FFF2-40B4-BE49-F238E27FC236}">
                <a16:creationId xmlns:a16="http://schemas.microsoft.com/office/drawing/2014/main" id="{17B5942B-C017-471E-94C3-99A771A06EAB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154 </a:t>
            </a:r>
            <a:r>
              <a:rPr sz="2250" b="1" dirty="0" err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项回归</a:t>
            </a:r>
            <a:r>
              <a:rPr sz="2250" b="1" dirty="0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2250" b="1" dirty="0" err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原生构建与安装</a:t>
            </a:r>
            <a:endParaRPr sz="2250" b="1" dirty="0">
              <a:solidFill>
                <a:srgbClr val="087E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-104">
            <a:extLst>
              <a:ext uri="{FF2B5EF4-FFF2-40B4-BE49-F238E27FC236}">
                <a16:creationId xmlns:a16="http://schemas.microsoft.com/office/drawing/2014/main" id="{C8290418-7456-4332-BEE6-A5A5BA68B234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覆盖业务、SQLite</a:t>
            </a:r>
            <a:r>
              <a:rPr sz="2025" b="0" dirty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 dirty="0" err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事务与系统适配器替身</a:t>
            </a:r>
            <a:endParaRPr sz="2025" b="0" dirty="0">
              <a:solidFill>
                <a:srgbClr val="18282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模拟器检查部分交互和界面，保护既有用户数据</a:t>
            </a:r>
            <a:r>
              <a:rPr sz="2025" b="0" dirty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" name="text-105">
            <a:extLst>
              <a:ext uri="{FF2B5EF4-FFF2-40B4-BE49-F238E27FC236}">
                <a16:creationId xmlns:a16="http://schemas.microsoft.com/office/drawing/2014/main" id="{0D033353-1340-4D0B-917B-663A1678BC79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测试结论有范围：通过业务测试，仍需完成真机专项验收</a:t>
            </a:r>
            <a:r>
              <a:rPr lang="zh-CN" altLang="en-US" sz="2175" b="1" dirty="0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（非常抱歉现在没有实体机）</a:t>
            </a:r>
            <a:r>
              <a:rPr sz="2175" b="1" dirty="0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6957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06">
            <a:extLst>
              <a:ext uri="{FF2B5EF4-FFF2-40B4-BE49-F238E27FC236}">
                <a16:creationId xmlns:a16="http://schemas.microsoft.com/office/drawing/2014/main" id="{0AFEEC0F-224A-4E43-AD4F-95A3056CCF0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交付状态与现场演示</a:t>
            </a:r>
          </a:p>
        </p:txBody>
      </p:sp>
      <p:sp>
        <p:nvSpPr>
          <p:cNvPr id="2" name="text-107">
            <a:extLst>
              <a:ext uri="{FF2B5EF4-FFF2-40B4-BE49-F238E27FC236}">
                <a16:creationId xmlns:a16="http://schemas.microsoft.com/office/drawing/2014/main" id="{047B3613-D114-492E-AC96-C2EF3C36822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当前可演示，下一步完成真机专项验收</a:t>
            </a:r>
          </a:p>
        </p:txBody>
      </p:sp>
      <p:sp>
        <p:nvSpPr>
          <p:cNvPr id="3" name="text-108">
            <a:extLst>
              <a:ext uri="{FF2B5EF4-FFF2-40B4-BE49-F238E27FC236}">
                <a16:creationId xmlns:a16="http://schemas.microsoft.com/office/drawing/2014/main" id="{2AA84F53-66E3-452E-B194-866EB481080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TAIPLAN HARMONY  /  1.0.1</a:t>
            </a:r>
          </a:p>
        </p:txBody>
      </p:sp>
      <p:sp>
        <p:nvSpPr>
          <p:cNvPr id="4" name="text-109">
            <a:extLst>
              <a:ext uri="{FF2B5EF4-FFF2-40B4-BE49-F238E27FC236}">
                <a16:creationId xmlns:a16="http://schemas.microsoft.com/office/drawing/2014/main" id="{B668008A-6D5A-4BDB-8729-9C9A92A96501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text-110">
            <a:extLst>
              <a:ext uri="{FF2B5EF4-FFF2-40B4-BE49-F238E27FC236}">
                <a16:creationId xmlns:a16="http://schemas.microsoft.com/office/drawing/2014/main" id="{16A73C72-F422-467A-AE66-4F6024B73459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E68"/>
                </a:solidFill>
                <a:latin typeface="Microsoft YaHei"/>
                <a:ea typeface="Microsoft YaHei"/>
                <a:cs typeface="Microsoft YaHei"/>
              </a:rPr>
              <a:t>演示：快速收集 → 安排时间 → 完成 / 撤销 → 日历 → 工作台</a:t>
            </a:r>
          </a:p>
        </p:txBody>
      </p:sp>
      <p:sp>
        <p:nvSpPr>
          <p:cNvPr id="6" name="text-111">
            <a:extLst>
              <a:ext uri="{FF2B5EF4-FFF2-40B4-BE49-F238E27FC236}">
                <a16:creationId xmlns:a16="http://schemas.microsoft.com/office/drawing/2014/main" id="{3126200B-8715-4AA9-A84A-BC322ED80235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1076325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  <a:p>
            <a:pPr algn="l">
              <a:def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154 项回归；API 26 模拟器构建、安装与部分交互。</a:t>
            </a:r>
          </a:p>
        </p:txBody>
      </p:sp>
      <p:sp>
        <p:nvSpPr>
          <p:cNvPr id="7" name="text-112">
            <a:extLst>
              <a:ext uri="{FF2B5EF4-FFF2-40B4-BE49-F238E27FC236}">
                <a16:creationId xmlns:a16="http://schemas.microsoft.com/office/drawing/2014/main" id="{D11B1178-1004-4C47-8792-A75A7A5018EB}"/>
              </a:ext>
            </a:extLst>
          </p:cNvPr>
          <p:cNvSpPr>
            <a:spLocks noGrp="1"/>
          </p:cNvSpPr>
          <p:nvPr/>
        </p:nvSpPr>
        <p:spPr>
          <a:xfrm>
            <a:off x="609600" y="4086225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待验收</a:t>
            </a:r>
          </a:p>
          <a:p>
            <a:pPr algn="l">
              <a:def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23"/>
                </a:solidFill>
                <a:latin typeface="Microsoft YaHei"/>
                <a:ea typeface="Microsoft YaHei"/>
                <a:cs typeface="Microsoft YaHei"/>
              </a:rPr>
              <a:t>真机中文语音、锁屏 / 退出后提醒、真实 AI 配置与密钥持久化、签名。</a:t>
            </a:r>
          </a:p>
        </p:txBody>
      </p:sp>
      <p:sp>
        <p:nvSpPr>
          <p:cNvPr id="8" name="text-113">
            <a:extLst>
              <a:ext uri="{FF2B5EF4-FFF2-40B4-BE49-F238E27FC236}">
                <a16:creationId xmlns:a16="http://schemas.microsoft.com/office/drawing/2014/main" id="{A0123C86-D5B8-4599-9019-0D6667B0A1CD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作者  TaiWoo_Chen</a:t>
            </a:r>
          </a:p>
          <a:p>
            <a:pPr algn="l">
              <a:defRPr sz="172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鸿蒙版（私有）：github.com/TanTaiwoo07/taiplan-harmony</a:t>
            </a:r>
          </a:p>
          <a:p>
            <a:pPr algn="l">
              <a:defRPr sz="172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5D"/>
                </a:solidFill>
                <a:latin typeface="Microsoft YaHei"/>
                <a:ea typeface="Microsoft YaHei"/>
                <a:cs typeface="Microsoft YaHei"/>
              </a:rPr>
              <a:t>母项目（公开）：github.com/TanTaiwoo07/TaiPlan-desktop</a:t>
            </a:r>
          </a:p>
        </p:txBody>
      </p:sp>
    </p:spTree>
    <p:extLst>
      <p:ext uri="{BB962C8B-B14F-4D97-AF65-F5344CB8AC3E}">
        <p14:creationId xmlns:p14="http://schemas.microsoft.com/office/powerpoint/2010/main" val="11586919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1640</Words>
  <Application>Microsoft Office PowerPoint</Application>
  <DocSecurity>0</DocSecurity>
  <PresentationFormat>宽屏</PresentationFormat>
  <Paragraphs>212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大宇 陈</cp:lastModifiedBy>
  <cp:revision>1</cp:revision>
  <dcterms:created xsi:type="dcterms:W3CDTF">2026-10-11T07:02:49Z</dcterms:created>
  <dcterms:modified xsi:type="dcterms:W3CDTF">2026-10-11T07:11:58Z</dcterms:modified>
</cp:coreProperties>
</file>